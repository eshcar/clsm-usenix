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5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GGWork\CLSM\Src\latex\trunk\Figures\OSDI-performanc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style val="18"/>
  <c:chart>
    <c:title>
      <c:tx>
        <c:rich>
          <a:bodyPr/>
          <a:lstStyle/>
          <a:p>
            <a:pPr>
              <a:defRPr sz="2000"/>
            </a:pPr>
            <a:r>
              <a:rPr lang="en-US" sz="2000" baseline="0"/>
              <a:t>Throughput</a:t>
            </a:r>
            <a:endParaRPr lang="en-US" sz="2000"/>
          </a:p>
        </c:rich>
      </c:tx>
      <c:layout>
        <c:manualLayout>
          <c:xMode val="edge"/>
          <c:yMode val="edge"/>
          <c:x val="0.37202576068702192"/>
          <c:y val="3.1376578686389572E-2"/>
        </c:manualLayout>
      </c:layout>
    </c:title>
    <c:plotArea>
      <c:layout/>
      <c:barChart>
        <c:barDir val="col"/>
        <c:grouping val="clustered"/>
        <c:ser>
          <c:idx val="0"/>
          <c:order val="0"/>
          <c:tx>
            <c:strRef>
              <c:f>'Heavy compactions'!$C$20</c:f>
              <c:strCache>
                <c:ptCount val="1"/>
                <c:pt idx="0">
                  <c:v>rocksDB</c:v>
                </c:pt>
              </c:strCache>
            </c:strRef>
          </c:tx>
          <c:spPr>
            <a:pattFill prst="narHorz">
              <a:fgClr>
                <a:srgbClr val="FFFFFF"/>
              </a:fgClr>
              <a:bgClr>
                <a:srgbClr val="000000"/>
              </a:bgClr>
            </a:pattFill>
            <a:ln>
              <a:solidFill>
                <a:schemeClr val="tx1"/>
              </a:solidFill>
            </a:ln>
          </c:spPr>
          <c:cat>
            <c:numRef>
              <c:f>'Heavy compactions'!$D$19:$H$19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'Heavy compactions'!$D$20:$H$20</c:f>
              <c:numCache>
                <c:formatCode>General</c:formatCode>
                <c:ptCount val="5"/>
                <c:pt idx="0">
                  <c:v>26548</c:v>
                </c:pt>
                <c:pt idx="1">
                  <c:v>30663</c:v>
                </c:pt>
                <c:pt idx="2">
                  <c:v>37169</c:v>
                </c:pt>
                <c:pt idx="3">
                  <c:v>40630</c:v>
                </c:pt>
                <c:pt idx="4">
                  <c:v>41583</c:v>
                </c:pt>
              </c:numCache>
            </c:numRef>
          </c:val>
        </c:ser>
        <c:ser>
          <c:idx val="1"/>
          <c:order val="1"/>
          <c:tx>
            <c:strRef>
              <c:f>'Heavy compactions'!$C$22</c:f>
              <c:strCache>
                <c:ptCount val="1"/>
                <c:pt idx="0">
                  <c:v>cLSM </c:v>
                </c:pt>
              </c:strCache>
            </c:strRef>
          </c:tx>
          <c:spPr>
            <a:solidFill>
              <a:schemeClr val="tx1"/>
            </a:solidFill>
            <a:ln>
              <a:solidFill>
                <a:schemeClr val="tx1"/>
              </a:solidFill>
            </a:ln>
          </c:spPr>
          <c:cat>
            <c:numRef>
              <c:f>'Heavy compactions'!$D$19:$H$19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'Heavy compactions'!$D$22:$H$22</c:f>
              <c:numCache>
                <c:formatCode>General</c:formatCode>
                <c:ptCount val="5"/>
                <c:pt idx="0">
                  <c:v>12172</c:v>
                </c:pt>
                <c:pt idx="1">
                  <c:v>18988</c:v>
                </c:pt>
                <c:pt idx="2">
                  <c:v>24281</c:v>
                </c:pt>
                <c:pt idx="3">
                  <c:v>34765</c:v>
                </c:pt>
                <c:pt idx="4">
                  <c:v>41576</c:v>
                </c:pt>
              </c:numCache>
            </c:numRef>
          </c:val>
        </c:ser>
        <c:axId val="71932928"/>
        <c:axId val="72090752"/>
      </c:barChart>
      <c:catAx>
        <c:axId val="71932928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Worker threads</a:t>
                </a:r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72090752"/>
        <c:crosses val="autoZero"/>
        <c:auto val="1"/>
        <c:lblAlgn val="ctr"/>
        <c:lblOffset val="100"/>
      </c:catAx>
      <c:valAx>
        <c:axId val="72090752"/>
        <c:scaling>
          <c:orientation val="minMax"/>
        </c:scaling>
        <c:axPos val="l"/>
        <c:title>
          <c:tx>
            <c:rich>
              <a:bodyPr rot="-5400000" vert="horz"/>
              <a:lstStyle/>
              <a:p>
                <a:pPr>
                  <a:defRPr sz="1400"/>
                </a:pPr>
                <a:r>
                  <a:rPr lang="en-US" sz="1400"/>
                  <a:t>ops/sec x 10</a:t>
                </a:r>
                <a:r>
                  <a:rPr lang="en-US" sz="1400" baseline="30000"/>
                  <a:t>3</a:t>
                </a:r>
              </a:p>
            </c:rich>
          </c:tx>
          <c:layout>
            <c:manualLayout>
              <c:xMode val="edge"/>
              <c:yMode val="edge"/>
              <c:x val="1.7897091722595106E-2"/>
              <c:y val="0.29223327571858393"/>
            </c:manualLayout>
          </c:layout>
        </c:title>
        <c:numFmt formatCode="General" sourceLinked="1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71932928"/>
        <c:crosses val="autoZero"/>
        <c:crossBetween val="between"/>
        <c:dispUnits>
          <c:builtInUnit val="thousands"/>
        </c:dispUnits>
      </c:valAx>
    </c:plotArea>
    <c:legend>
      <c:legendPos val="r"/>
      <c:layout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</c:chart>
  <c:externalData r:id="rId1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/>
          <p:nvPr/>
        </p:nvGraphicFramePr>
        <p:xfrm>
          <a:off x="0" y="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Guy Gueta</dc:creator>
  <cp:lastModifiedBy>Guy Gueta</cp:lastModifiedBy>
  <cp:revision>3</cp:revision>
  <dcterms:created xsi:type="dcterms:W3CDTF">2006-08-16T00:00:00Z</dcterms:created>
  <dcterms:modified xsi:type="dcterms:W3CDTF">2014-10-06T10:52:30Z</dcterms:modified>
</cp:coreProperties>
</file>