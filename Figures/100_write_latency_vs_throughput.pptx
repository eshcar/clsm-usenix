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5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GGWork\CLSM\Src\latex\trunk\Figures\OSDI-performanc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sz="1800" b="1" i="0" baseline="0"/>
              <a:t>Throughput vs. Latency (100% </a:t>
            </a:r>
            <a:r>
              <a:rPr lang="en-US" sz="1800" b="1" i="0" u="none" strike="noStrike" baseline="0"/>
              <a:t>Write)</a:t>
            </a:r>
          </a:p>
        </c:rich>
      </c:tx>
      <c:layout/>
    </c:title>
    <c:plotArea>
      <c:layout>
        <c:manualLayout>
          <c:layoutTarget val="inner"/>
          <c:xMode val="edge"/>
          <c:yMode val="edge"/>
          <c:x val="0.14467482755520161"/>
          <c:y val="0.13006849460150091"/>
          <c:w val="0.628452984975573"/>
          <c:h val="0.74863713651357711"/>
        </c:manualLayout>
      </c:layout>
      <c:scatterChart>
        <c:scatterStyle val="smoothMarker"/>
        <c:ser>
          <c:idx val="4"/>
          <c:order val="0"/>
          <c:tx>
            <c:strRef>
              <c:f>'0% read , 100% write'!$C$75</c:f>
              <c:strCache>
                <c:ptCount val="1"/>
                <c:pt idx="0">
                  <c:v>rocksDB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12"/>
            <c:spPr>
              <a:noFill/>
              <a:ln w="12700">
                <a:solidFill>
                  <a:prstClr val="black"/>
                </a:solidFill>
              </a:ln>
            </c:spPr>
          </c:marker>
          <c:dLbls>
            <c:dLbl>
              <c:idx val="0"/>
              <c:layout>
                <c:manualLayout>
                  <c:x val="-2.5974025974026042E-2"/>
                  <c:y val="-4.481792717086856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Val val="1"/>
            </c:dLbl>
            <c:showVal val="1"/>
          </c:dLbls>
          <c:xVal>
            <c:numRef>
              <c:f>'0% read , 100% write'!$D$75</c:f>
              <c:numCache>
                <c:formatCode>General</c:formatCode>
                <c:ptCount val="1"/>
                <c:pt idx="0">
                  <c:v>60976</c:v>
                </c:pt>
              </c:numCache>
            </c:numRef>
          </c:xVal>
          <c:yVal>
            <c:numRef>
              <c:f>'0% read , 100% write'!$D$76</c:f>
              <c:numCache>
                <c:formatCode>General</c:formatCode>
                <c:ptCount val="1"/>
                <c:pt idx="0">
                  <c:v>13</c:v>
                </c:pt>
              </c:numCache>
            </c:numRef>
          </c:yVal>
          <c:smooth val="1"/>
        </c:ser>
        <c:ser>
          <c:idx val="3"/>
          <c:order val="1"/>
          <c:tx>
            <c:strRef>
              <c:f>'0% read , 100% write'!$C$73</c:f>
              <c:strCache>
                <c:ptCount val="1"/>
                <c:pt idx="0">
                  <c:v>bLSM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x"/>
            <c:size val="12"/>
            <c:spPr>
              <a:ln w="12700">
                <a:solidFill>
                  <a:prstClr val="black"/>
                </a:solidFill>
              </a:ln>
            </c:spPr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Val val="1"/>
            </c:dLbl>
            <c:showVal val="1"/>
          </c:dLbls>
          <c:xVal>
            <c:numRef>
              <c:f>'0% read , 100% write'!$D$73:$E$73</c:f>
              <c:numCache>
                <c:formatCode>General</c:formatCode>
                <c:ptCount val="2"/>
                <c:pt idx="0">
                  <c:v>99289</c:v>
                </c:pt>
                <c:pt idx="1">
                  <c:v>107074</c:v>
                </c:pt>
              </c:numCache>
            </c:numRef>
          </c:xVal>
          <c:yVal>
            <c:numRef>
              <c:f>'0% read , 100% write'!$D$74:$E$74</c:f>
              <c:numCache>
                <c:formatCode>General</c:formatCode>
                <c:ptCount val="2"/>
                <c:pt idx="0">
                  <c:v>12</c:v>
                </c:pt>
                <c:pt idx="1">
                  <c:v>30</c:v>
                </c:pt>
              </c:numCache>
            </c:numRef>
          </c:yVal>
          <c:smooth val="1"/>
        </c:ser>
        <c:ser>
          <c:idx val="0"/>
          <c:order val="2"/>
          <c:tx>
            <c:strRef>
              <c:f>'0% read , 100% write'!$C$67</c:f>
              <c:strCache>
                <c:ptCount val="1"/>
                <c:pt idx="0">
                  <c:v>LevelDB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diamond"/>
            <c:size val="12"/>
            <c:spPr>
              <a:solidFill>
                <a:schemeClr val="bg1"/>
              </a:solidFill>
              <a:ln w="12700">
                <a:solidFill>
                  <a:schemeClr val="tx1"/>
                </a:solidFill>
              </a:ln>
            </c:spPr>
          </c:marker>
          <c:dLbls>
            <c:dLbl>
              <c:idx val="0"/>
              <c:layout>
                <c:manualLayout>
                  <c:x val="-2.8138528138528136E-2"/>
                  <c:y val="-3.734827264239030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Val val="1"/>
            </c:dLbl>
            <c:showVal val="1"/>
          </c:dLbls>
          <c:xVal>
            <c:numRef>
              <c:f>'0% read , 100% write'!$D$67</c:f>
              <c:numCache>
                <c:formatCode>General</c:formatCode>
                <c:ptCount val="1"/>
                <c:pt idx="0">
                  <c:v>162994</c:v>
                </c:pt>
              </c:numCache>
            </c:numRef>
          </c:xVal>
          <c:yVal>
            <c:numRef>
              <c:f>'0% read , 100% write'!$D$68</c:f>
              <c:numCache>
                <c:formatCode>General</c:formatCode>
                <c:ptCount val="1"/>
                <c:pt idx="0">
                  <c:v>7</c:v>
                </c:pt>
              </c:numCache>
            </c:numRef>
          </c:yVal>
          <c:smooth val="1"/>
        </c:ser>
        <c:ser>
          <c:idx val="2"/>
          <c:order val="3"/>
          <c:tx>
            <c:strRef>
              <c:f>'0% read , 100% write'!$C$71</c:f>
              <c:strCache>
                <c:ptCount val="1"/>
                <c:pt idx="0">
                  <c:v>HyperLevelDB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triangle"/>
            <c:size val="12"/>
            <c:spPr>
              <a:noFill/>
              <a:ln w="12700">
                <a:solidFill>
                  <a:prstClr val="black"/>
                </a:solidFill>
              </a:ln>
            </c:spPr>
          </c:marker>
          <c:dLbls>
            <c:dLbl>
              <c:idx val="0"/>
              <c:layout>
                <c:manualLayout>
                  <c:x val="-6.2922077922078115E-2"/>
                  <c:y val="3.7348272642390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dLblPos val="r"/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dLblPos val="l"/>
              <c:showVal val="1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/>
                      <a:t>4</a:t>
                    </a:r>
                  </a:p>
                </c:rich>
              </c:tx>
              <c:dLblPos val="l"/>
              <c:showVal val="1"/>
            </c:dLbl>
            <c:dLblPos val="l"/>
            <c:showVal val="1"/>
          </c:dLbls>
          <c:xVal>
            <c:numRef>
              <c:f>'0% read , 100% write'!$D$71:$F$71</c:f>
              <c:numCache>
                <c:formatCode>General</c:formatCode>
                <c:ptCount val="3"/>
                <c:pt idx="0">
                  <c:v>178284</c:v>
                </c:pt>
                <c:pt idx="1">
                  <c:v>218273</c:v>
                </c:pt>
                <c:pt idx="2">
                  <c:v>236788</c:v>
                </c:pt>
              </c:numCache>
            </c:numRef>
          </c:xVal>
          <c:yVal>
            <c:numRef>
              <c:f>'0% read , 100% write'!$D$72:$F$72</c:f>
              <c:numCache>
                <c:formatCode>General</c:formatCode>
                <c:ptCount val="3"/>
                <c:pt idx="0">
                  <c:v>7</c:v>
                </c:pt>
                <c:pt idx="1">
                  <c:v>12</c:v>
                </c:pt>
                <c:pt idx="2">
                  <c:v>24</c:v>
                </c:pt>
              </c:numCache>
            </c:numRef>
          </c:yVal>
          <c:smooth val="1"/>
        </c:ser>
        <c:ser>
          <c:idx val="1"/>
          <c:order val="4"/>
          <c:tx>
            <c:strRef>
              <c:f>'0% read , 100% write'!$C$69</c:f>
              <c:strCache>
                <c:ptCount val="1"/>
                <c:pt idx="0">
                  <c:v>cLSM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12"/>
            <c:spPr>
              <a:solidFill>
                <a:sysClr val="windowText" lastClr="000000"/>
              </a:solidFill>
              <a:ln w="12700">
                <a:solidFill>
                  <a:prstClr val="black"/>
                </a:solidFill>
              </a:ln>
            </c:spPr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Val val="1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/>
                      <a:t>4</a:t>
                    </a:r>
                  </a:p>
                </c:rich>
              </c:tx>
              <c:showVal val="1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/>
                      <a:t>8</a:t>
                    </a:r>
                  </a:p>
                </c:rich>
              </c:tx>
              <c:showVal val="1"/>
            </c:dLbl>
            <c:showVal val="1"/>
          </c:dLbls>
          <c:xVal>
            <c:numRef>
              <c:f>'0% read , 100% write'!$D$69:$G$69</c:f>
              <c:numCache>
                <c:formatCode>General</c:formatCode>
                <c:ptCount val="4"/>
                <c:pt idx="0">
                  <c:v>173506</c:v>
                </c:pt>
                <c:pt idx="1">
                  <c:v>246617</c:v>
                </c:pt>
                <c:pt idx="2">
                  <c:v>333371</c:v>
                </c:pt>
                <c:pt idx="3">
                  <c:v>431060</c:v>
                </c:pt>
              </c:numCache>
            </c:numRef>
          </c:xVal>
          <c:yVal>
            <c:numRef>
              <c:f>'0% read , 100% write'!$D$70:$G$70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31</c:v>
                </c:pt>
              </c:numCache>
            </c:numRef>
          </c:yVal>
          <c:smooth val="1"/>
        </c:ser>
        <c:axId val="96050176"/>
        <c:axId val="96158848"/>
      </c:scatterChart>
      <c:valAx>
        <c:axId val="9605017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 b="1" i="0" u="none" strike="noStrike" baseline="0"/>
                  <a:t>Throughput (</a:t>
                </a:r>
                <a:r>
                  <a:rPr lang="en-US" sz="1400" b="1" i="0" baseline="0"/>
                  <a:t>ops/sec x 10</a:t>
                </a:r>
                <a:r>
                  <a:rPr lang="en-US" sz="1400" b="1" i="0" baseline="30000"/>
                  <a:t>3</a:t>
                </a:r>
                <a:r>
                  <a:rPr lang="en-US" sz="1400" b="1" i="0" u="none" strike="noStrike" baseline="0"/>
                  <a:t>)</a:t>
                </a:r>
                <a:endParaRPr lang="en-US" sz="1400" b="1" i="0" baseline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96158848"/>
        <c:crosses val="autoZero"/>
        <c:crossBetween val="midCat"/>
        <c:dispUnits>
          <c:builtInUnit val="thousands"/>
        </c:dispUnits>
      </c:valAx>
      <c:valAx>
        <c:axId val="9615884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 b="1" i="0" baseline="0"/>
                  <a:t>90% Latency (</a:t>
                </a:r>
                <a:r>
                  <a:rPr lang="el-GR" sz="1400" b="0" i="0" baseline="0"/>
                  <a:t>μ</a:t>
                </a:r>
                <a:r>
                  <a:rPr lang="el-GR" sz="1400" b="1" i="0" baseline="0"/>
                  <a:t> </a:t>
                </a:r>
                <a:r>
                  <a:rPr lang="en-US" sz="1400" b="1" i="0" baseline="0"/>
                  <a:t>sec)</a:t>
                </a:r>
                <a:endParaRPr lang="en-US" sz="1400"/>
              </a:p>
            </c:rich>
          </c:tx>
          <c:layout>
            <c:manualLayout>
              <c:xMode val="edge"/>
              <c:yMode val="edge"/>
              <c:x val="1.9023348019507412E-2"/>
              <c:y val="0.3815365455382228"/>
            </c:manualLayout>
          </c:layout>
        </c:title>
        <c:numFmt formatCode="General" sourceLinked="1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9605017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5934747145187853"/>
          <c:y val="0.28048173445199504"/>
          <c:w val="0.23847743338771127"/>
          <c:h val="0.35030911149580962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0" y="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Guy Gueta</dc:creator>
  <cp:lastModifiedBy>Guy Gueta</cp:lastModifiedBy>
  <cp:revision>9</cp:revision>
  <dcterms:created xsi:type="dcterms:W3CDTF">2006-08-16T00:00:00Z</dcterms:created>
  <dcterms:modified xsi:type="dcterms:W3CDTF">2014-10-10T08:27:17Z</dcterms:modified>
</cp:coreProperties>
</file>